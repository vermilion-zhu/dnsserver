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6" r:id="rId3"/>
  </p:sldIdLst>
  <p:sldSz cx="6858000" cy="12192000"/>
  <p:notesSz cx="7103745" cy="1023429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742" userDrawn="1">
          <p15:clr>
            <a:srgbClr val="A4A3A4"/>
          </p15:clr>
        </p15:guide>
        <p15:guide id="2" pos="222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6369"/>
    <a:srgbClr val="FFFFFF"/>
    <a:srgbClr val="B3B3B3"/>
    <a:srgbClr val="C9151E"/>
    <a:srgbClr val="DBDBDB"/>
    <a:srgbClr val="F6F8FA"/>
    <a:srgbClr val="C8161E"/>
    <a:srgbClr val="AFAFAF"/>
    <a:srgbClr val="F2F2F2"/>
    <a:srgbClr val="BD9E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>
        <p:scale>
          <a:sx n="200" d="100"/>
          <a:sy n="200" d="100"/>
        </p:scale>
        <p:origin x="-2988" y="-12152"/>
      </p:cViewPr>
      <p:guideLst>
        <p:guide orient="horz" pos="3742"/>
        <p:guide pos="2222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581275" y="1279525"/>
            <a:ext cx="194310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>
          <a:xfrm>
            <a:off x="2581275" y="1279525"/>
            <a:ext cx="1943100" cy="3454400"/>
          </a:xfrm>
        </p:spPr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995312"/>
            <a:ext cx="5829300" cy="4244622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6403625"/>
            <a:ext cx="5143500" cy="2943577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3039537"/>
            <a:ext cx="5915025" cy="5071532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8159050"/>
            <a:ext cx="5915025" cy="2666999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3245556"/>
            <a:ext cx="2914650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49114"/>
            <a:ext cx="5915025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2" y="2988734"/>
            <a:ext cx="2901255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2" y="4453469"/>
            <a:ext cx="2901255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4" y="2988734"/>
            <a:ext cx="2915543" cy="146473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4" y="4453469"/>
            <a:ext cx="291554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4" y="1755425"/>
            <a:ext cx="3471863" cy="8664222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812800"/>
            <a:ext cx="2211884" cy="28448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4" y="1755425"/>
            <a:ext cx="3471863" cy="866422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3657600"/>
            <a:ext cx="2211884" cy="677615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649111"/>
            <a:ext cx="1478756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649111"/>
            <a:ext cx="4350544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471490" y="980526"/>
            <a:ext cx="5915025" cy="988261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649114"/>
            <a:ext cx="5915025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3245556"/>
            <a:ext cx="5915025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11300183"/>
            <a:ext cx="231457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11300183"/>
            <a:ext cx="154305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8.png"/><Relationship Id="rId8" Type="http://schemas.openxmlformats.org/officeDocument/2006/relationships/tags" Target="../tags/tag1.xml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1.xml"/><Relationship Id="rId14" Type="http://schemas.openxmlformats.org/officeDocument/2006/relationships/hyperlink" Target="https://tranco-list.eu/list/WVV59" TargetMode="External"/><Relationship Id="rId13" Type="http://schemas.openxmlformats.org/officeDocument/2006/relationships/image" Target="../media/image11.jpeg"/><Relationship Id="rId12" Type="http://schemas.openxmlformats.org/officeDocument/2006/relationships/hyperlink" Target="https://github.com/Vermilion-Zhu/DNSServer" TargetMode="External"/><Relationship Id="rId11" Type="http://schemas.openxmlformats.org/officeDocument/2006/relationships/image" Target="../media/image10.jpeg"/><Relationship Id="rId10" Type="http://schemas.openxmlformats.org/officeDocument/2006/relationships/image" Target="../media/image9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gatewa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3755" y="874395"/>
            <a:ext cx="864870" cy="612140"/>
          </a:xfrm>
          <a:prstGeom prst="rect">
            <a:avLst/>
          </a:prstGeom>
        </p:spPr>
      </p:pic>
      <p:pic>
        <p:nvPicPr>
          <p:cNvPr id="4" name="图片 3" descr="sneak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" y="826135"/>
            <a:ext cx="864000" cy="610681"/>
          </a:xfrm>
          <a:prstGeom prst="rect">
            <a:avLst/>
          </a:prstGeom>
        </p:spPr>
      </p:pic>
      <p:sp>
        <p:nvSpPr>
          <p:cNvPr id="14" name="矩形 13"/>
          <p:cNvSpPr/>
          <p:nvPr/>
        </p:nvSpPr>
        <p:spPr>
          <a:xfrm>
            <a:off x="62764" y="1363840"/>
            <a:ext cx="3312859" cy="3208388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1735" y="389412"/>
            <a:ext cx="62145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b="1" dirty="0">
                <a:solidFill>
                  <a:srgbClr val="C9151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基于域名解析协议与机器学习的智能</a:t>
            </a:r>
            <a:r>
              <a:rPr lang="en-US" altLang="zh-CN" b="1" dirty="0">
                <a:solidFill>
                  <a:srgbClr val="C9151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DNS </a:t>
            </a:r>
            <a:r>
              <a:rPr lang="zh-CN" altLang="en-US" b="1" dirty="0">
                <a:solidFill>
                  <a:srgbClr val="C9151E"/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拦截服务器</a:t>
            </a:r>
            <a:endParaRPr lang="zh-CN" altLang="en-US" b="1" dirty="0">
              <a:solidFill>
                <a:srgbClr val="C9151E"/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924189" y="874302"/>
            <a:ext cx="283174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宋体" panose="02010600030101010101" pitchFamily="2" charset="-122"/>
                <a:ea typeface="宋体" panose="02010600030101010101" pitchFamily="2" charset="-122"/>
              </a:rPr>
              <a:t>董子舒，陈佳旗，蒙俊豪，朱明睿</a:t>
            </a:r>
            <a:endParaRPr lang="zh-CN" altLang="en-US" sz="1200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9" name="直接连接符 8"/>
          <p:cNvCxnSpPr/>
          <p:nvPr/>
        </p:nvCxnSpPr>
        <p:spPr>
          <a:xfrm>
            <a:off x="57152" y="1360137"/>
            <a:ext cx="6685121" cy="2858"/>
          </a:xfrm>
          <a:prstGeom prst="line">
            <a:avLst/>
          </a:prstGeom>
          <a:ln>
            <a:solidFill>
              <a:srgbClr val="7B838C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5" name="图片 14" descr="校标-标志中英文横版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10848"/>
            <a:ext cx="1218777" cy="400765"/>
          </a:xfrm>
          <a:prstGeom prst="rect">
            <a:avLst/>
          </a:prstGeom>
        </p:spPr>
      </p:pic>
      <p:pic>
        <p:nvPicPr>
          <p:cNvPr id="17" name="图片 16" descr="DNS服务器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678" y="833075"/>
            <a:ext cx="441841" cy="441841"/>
          </a:xfrm>
          <a:prstGeom prst="rect">
            <a:avLst/>
          </a:prstGeom>
        </p:spPr>
      </p:pic>
      <p:pic>
        <p:nvPicPr>
          <p:cNvPr id="26" name="图片 25" descr="DNS服务器数量_域名解析数量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1204" y="807875"/>
            <a:ext cx="475774" cy="475774"/>
          </a:xfrm>
          <a:prstGeom prst="rect">
            <a:avLst/>
          </a:prstGeom>
        </p:spPr>
      </p:pic>
      <p:cxnSp>
        <p:nvCxnSpPr>
          <p:cNvPr id="31" name="直接连接符 30"/>
          <p:cNvCxnSpPr/>
          <p:nvPr/>
        </p:nvCxnSpPr>
        <p:spPr>
          <a:xfrm>
            <a:off x="3393638" y="1360139"/>
            <a:ext cx="7577" cy="10750581"/>
          </a:xfrm>
          <a:prstGeom prst="line">
            <a:avLst/>
          </a:prstGeom>
          <a:ln>
            <a:solidFill>
              <a:srgbClr val="B2B2B2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3483186" y="4368079"/>
            <a:ext cx="3272839" cy="4299205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55" name="文本框 54"/>
          <p:cNvSpPr txBox="1"/>
          <p:nvPr/>
        </p:nvSpPr>
        <p:spPr>
          <a:xfrm>
            <a:off x="3413003" y="4517821"/>
            <a:ext cx="2390299" cy="21544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675" b="1" dirty="0">
                <a:solidFill>
                  <a:srgbClr val="C9151E"/>
                </a:solidFill>
                <a:sym typeface="+mn-ea"/>
              </a:rPr>
              <a:t>🖥 GUI 可视化工具与 CLI 查询工具</a:t>
            </a:r>
            <a:r>
              <a:rPr lang="en-US" altLang="zh-CN" sz="675" dirty="0">
                <a:sym typeface="+mn-ea"/>
              </a:rPr>
              <a:t> 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(by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董子舒、陈佳旗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)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</p:txBody>
      </p:sp>
      <p:pic>
        <p:nvPicPr>
          <p:cNvPr id="56" name="图片 55"/>
          <p:cNvPicPr>
            <a:picLocks noChangeAspect="1"/>
          </p:cNvPicPr>
          <p:nvPr/>
        </p:nvPicPr>
        <p:blipFill>
          <a:blip r:embed="rId6"/>
          <a:srcRect l="615" t="798" r="860" b="1008"/>
          <a:stretch>
            <a:fillRect/>
          </a:stretch>
        </p:blipFill>
        <p:spPr>
          <a:xfrm>
            <a:off x="3751374" y="5024399"/>
            <a:ext cx="2595404" cy="252251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25000"/>
              </a:prstClr>
            </a:outerShdw>
          </a:effectLst>
        </p:spPr>
      </p:pic>
      <p:pic>
        <p:nvPicPr>
          <p:cNvPr id="57" name="图片 56" descr="D:/SJTU/CS/ComputerNetwork/posters/another.pnganother"/>
          <p:cNvPicPr>
            <a:picLocks noChangeAspect="1"/>
          </p:cNvPicPr>
          <p:nvPr/>
        </p:nvPicPr>
        <p:blipFill>
          <a:blip r:embed="rId7"/>
          <a:srcRect l="-432" t="934" r="-481" b="-1487"/>
          <a:stretch>
            <a:fillRect/>
          </a:stretch>
        </p:blipFill>
        <p:spPr>
          <a:xfrm>
            <a:off x="3815715" y="7908290"/>
            <a:ext cx="2531110" cy="650875"/>
          </a:xfrm>
          <a:prstGeom prst="rect">
            <a:avLst/>
          </a:prstGeom>
          <a:effectLst>
            <a:outerShdw blurRad="50800" dist="38100" algn="l" rotWithShape="0">
              <a:prstClr val="black">
                <a:alpha val="25000"/>
              </a:prstClr>
            </a:outerShdw>
          </a:effectLst>
        </p:spPr>
      </p:pic>
      <p:sp>
        <p:nvSpPr>
          <p:cNvPr id="58" name="文本框 57"/>
          <p:cNvSpPr txBox="1"/>
          <p:nvPr/>
        </p:nvSpPr>
        <p:spPr>
          <a:xfrm>
            <a:off x="3463545" y="4685845"/>
            <a:ext cx="3272839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使用</a:t>
            </a:r>
            <a:r>
              <a:rPr lang="en-US" altLang="zh-CN" sz="800" u="sng" dirty="0" err="1">
                <a:solidFill>
                  <a:srgbClr val="616161"/>
                </a:solidFill>
                <a:latin typeface="Segoe WPC"/>
                <a:sym typeface="+mn-ea"/>
              </a:rPr>
              <a:t>tkinter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库实现的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GUI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界面，支持批量查询，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支持动态调节 </a:t>
            </a:r>
            <a:r>
              <a:rPr lang="en-US" altLang="zh-CN" sz="800" b="0" i="0" dirty="0">
                <a:solidFill>
                  <a:srgbClr val="616161"/>
                </a:solidFill>
                <a:effectLst/>
                <a:latin typeface="Segoe WPC"/>
              </a:rPr>
              <a:t>DGA 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过滤阈值及多线程异步批量测试，防界面假死并支持检测结果一键导出。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522540" y="7576454"/>
            <a:ext cx="31534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命令行查询工具。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原生打印 </a:t>
            </a:r>
            <a:r>
              <a:rPr lang="en-US" altLang="zh-CN" sz="800" b="0" i="0" dirty="0">
                <a:solidFill>
                  <a:srgbClr val="616161"/>
                </a:solidFill>
                <a:effectLst/>
                <a:latin typeface="Segoe WPC"/>
              </a:rPr>
              <a:t>DNS 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四段报文；支持规范的 </a:t>
            </a:r>
            <a:r>
              <a:rPr lang="en-US" altLang="zh-CN" sz="800" b="0" i="0" dirty="0">
                <a:solidFill>
                  <a:srgbClr val="616161"/>
                </a:solidFill>
                <a:effectLst/>
                <a:latin typeface="Segoe WPC"/>
              </a:rPr>
              <a:t>UDP 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优先与 </a:t>
            </a:r>
            <a:r>
              <a:rPr lang="en-US" altLang="zh-CN" sz="800" b="0" i="0" dirty="0">
                <a:solidFill>
                  <a:srgbClr val="616161"/>
                </a:solidFill>
                <a:effectLst/>
                <a:latin typeface="Segoe WPC"/>
              </a:rPr>
              <a:t>TCP </a:t>
            </a:r>
            <a:r>
              <a:rPr lang="zh-CN" altLang="en-US" sz="800" b="0" i="0" dirty="0">
                <a:solidFill>
                  <a:srgbClr val="616161"/>
                </a:solidFill>
                <a:effectLst/>
                <a:latin typeface="Segoe WPC"/>
              </a:rPr>
              <a:t>回退传输策略，确保大体量解析报文不丢包。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85725" y="8677275"/>
            <a:ext cx="3290570" cy="3433445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3494062" y="8738012"/>
            <a:ext cx="4648517" cy="1832786"/>
            <a:chOff x="4621292" y="6672858"/>
            <a:chExt cx="3095188" cy="852249"/>
          </a:xfrm>
        </p:grpSpPr>
        <p:sp>
          <p:nvSpPr>
            <p:cNvPr id="61" name="矩形 60"/>
            <p:cNvSpPr/>
            <p:nvPr/>
          </p:nvSpPr>
          <p:spPr>
            <a:xfrm>
              <a:off x="4621292" y="6672858"/>
              <a:ext cx="2179201" cy="852249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2F2F2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  <a:softEdge rad="12700"/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15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sym typeface="+mn-ea"/>
              </a:endParaRPr>
            </a:p>
          </p:txBody>
        </p:sp>
        <p:graphicFrame>
          <p:nvGraphicFramePr>
            <p:cNvPr id="64" name="表格 63"/>
            <p:cNvGraphicFramePr/>
            <p:nvPr>
              <p:custDataLst>
                <p:tags r:id="rId8"/>
              </p:custDataLst>
            </p:nvPr>
          </p:nvGraphicFramePr>
          <p:xfrm>
            <a:off x="4705524" y="6888218"/>
            <a:ext cx="3010956" cy="492918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1003652"/>
                  <a:gridCol w="1003652"/>
                  <a:gridCol w="1003652"/>
                </a:tblGrid>
                <a:tr h="246459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zh-CN" altLang="en-US" sz="1000"/>
                          <a:t>使用场景</a:t>
                        </a:r>
                        <a:endParaRPr lang="zh-CN" altLang="en-US" sz="1000"/>
                      </a:p>
                    </a:txBody>
                    <a:tcPr marL="51435" marR="51435" marT="25718" marB="25718">
                      <a:solidFill>
                        <a:srgbClr val="C9151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zh-CN" altLang="en-US" sz="1000" dirty="0"/>
                          <a:t>无</a:t>
                        </a:r>
                        <a:r>
                          <a:rPr lang="en-US" altLang="zh-CN" sz="1000" dirty="0"/>
                          <a:t>cache</a:t>
                        </a:r>
                        <a:r>
                          <a:rPr lang="zh-CN" altLang="en-US" sz="1000" dirty="0"/>
                          <a:t>缓存</a:t>
                        </a:r>
                        <a:endParaRPr lang="zh-CN" altLang="en-US" sz="1000" dirty="0"/>
                      </a:p>
                    </a:txBody>
                    <a:tcPr marL="51435" marR="51435" marT="25718" marB="25718">
                      <a:solidFill>
                        <a:srgbClr val="C9151E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000" dirty="0"/>
                          <a:t>cache</a:t>
                        </a:r>
                        <a:r>
                          <a:rPr lang="zh-CN" altLang="en-US" sz="1000" dirty="0"/>
                          <a:t>命中</a:t>
                        </a:r>
                        <a:endParaRPr lang="zh-CN" altLang="en-US" sz="1000" dirty="0"/>
                      </a:p>
                    </a:txBody>
                    <a:tcPr marL="51435" marR="51435" marT="25718" marB="25718">
                      <a:solidFill>
                        <a:srgbClr val="C9151E"/>
                      </a:solidFill>
                    </a:tcPr>
                  </a:tc>
                </a:tr>
                <a:tr h="246459"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zh-CN" altLang="en-US" sz="1000"/>
                          <a:t>平均查询时间</a:t>
                        </a:r>
                        <a:endParaRPr lang="zh-CN" altLang="en-US" sz="1000"/>
                      </a:p>
                    </a:txBody>
                    <a:tcPr marL="51435" marR="51435" marT="25718" marB="25718">
                      <a:solidFill>
                        <a:srgbClr val="ED63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000" dirty="0"/>
                          <a:t>≈ 25</a:t>
                        </a:r>
                        <a:r>
                          <a:rPr lang="en-US" altLang="zh-CN" sz="1000" dirty="0"/>
                          <a:t>s/query</a:t>
                        </a:r>
                        <a:endParaRPr lang="en-US" altLang="zh-CN" sz="1000" dirty="0"/>
                      </a:p>
                    </a:txBody>
                    <a:tcPr marL="51435" marR="51435" marT="25718" marB="25718">
                      <a:solidFill>
                        <a:srgbClr val="ED6369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>
                          <a:buNone/>
                        </a:pPr>
                        <a:r>
                          <a:rPr lang="en-US" altLang="zh-CN" sz="1000" dirty="0"/>
                          <a:t>≈ 0.1s/query</a:t>
                        </a:r>
                        <a:endParaRPr lang="en-US" altLang="zh-CN" sz="1000" dirty="0"/>
                      </a:p>
                    </a:txBody>
                    <a:tcPr marL="51435" marR="51435" marT="25718" marB="25718">
                      <a:solidFill>
                        <a:srgbClr val="ED6369"/>
                      </a:solidFill>
                    </a:tcPr>
                  </a:tc>
                </a:tr>
              </a:tbl>
            </a:graphicData>
          </a:graphic>
        </p:graphicFrame>
      </p:grpSp>
      <p:sp>
        <p:nvSpPr>
          <p:cNvPr id="11" name="文本框 10"/>
          <p:cNvSpPr txBox="1"/>
          <p:nvPr/>
        </p:nvSpPr>
        <p:spPr>
          <a:xfrm>
            <a:off x="211670" y="4246507"/>
            <a:ext cx="284296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accent3"/>
                </a:solidFill>
                <a:latin typeface="Segoe WPC"/>
              </a:rPr>
              <a:t>黑客通过 </a:t>
            </a:r>
            <a:r>
              <a:rPr lang="en-US" altLang="zh-CN" sz="800" dirty="0">
                <a:solidFill>
                  <a:schemeClr val="accent3"/>
                </a:solidFill>
                <a:latin typeface="Segoe WPC"/>
              </a:rPr>
              <a:t>DGA </a:t>
            </a:r>
            <a:r>
              <a:rPr lang="zh-CN" altLang="en-US" sz="800" dirty="0">
                <a:solidFill>
                  <a:schemeClr val="accent3"/>
                </a:solidFill>
                <a:latin typeface="Segoe WPC"/>
              </a:rPr>
              <a:t>算法不断动态更换通信域名，从而绕过传统 </a:t>
            </a:r>
            <a:r>
              <a:rPr lang="en-US" altLang="zh-CN" sz="800" dirty="0">
                <a:solidFill>
                  <a:schemeClr val="accent3"/>
                </a:solidFill>
                <a:latin typeface="Segoe WPC"/>
              </a:rPr>
              <a:t>DNS </a:t>
            </a:r>
            <a:r>
              <a:rPr lang="zh-CN" altLang="en-US" sz="800" dirty="0">
                <a:solidFill>
                  <a:schemeClr val="accent3"/>
                </a:solidFill>
                <a:latin typeface="Segoe WPC"/>
              </a:rPr>
              <a:t>的静态黑名单拦截</a:t>
            </a:r>
            <a:endParaRPr lang="zh-CN" altLang="en-US" sz="800" dirty="0">
              <a:solidFill>
                <a:schemeClr val="accent3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64742" y="4611073"/>
            <a:ext cx="3311520" cy="4028572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138430" y="5262245"/>
            <a:ext cx="3163486" cy="3150234"/>
            <a:chOff x="233299" y="2018242"/>
            <a:chExt cx="1604788" cy="1858832"/>
          </a:xfrm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grpSpPr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9"/>
            <a:srcRect l="2263" r="8989" b="21115"/>
            <a:stretch>
              <a:fillRect/>
            </a:stretch>
          </p:blipFill>
          <p:spPr>
            <a:xfrm>
              <a:off x="233299" y="2018242"/>
              <a:ext cx="1604508" cy="1858832"/>
            </a:xfrm>
            <a:prstGeom prst="rect">
              <a:avLst/>
            </a:prstGeom>
          </p:spPr>
        </p:pic>
        <p:sp>
          <p:nvSpPr>
            <p:cNvPr id="43" name="云形 42"/>
            <p:cNvSpPr/>
            <p:nvPr/>
          </p:nvSpPr>
          <p:spPr>
            <a:xfrm>
              <a:off x="1352312" y="2101719"/>
              <a:ext cx="433626" cy="263962"/>
            </a:xfrm>
            <a:prstGeom prst="cloud">
              <a:avLst/>
            </a:prstGeom>
            <a:solidFill>
              <a:schemeClr val="bg1"/>
            </a:solidFill>
            <a:ln>
              <a:solidFill>
                <a:srgbClr val="DBDBDB"/>
              </a:soli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880">
                  <a:solidFill>
                    <a:srgbClr val="C8161E"/>
                  </a:solidFill>
                </a:rPr>
                <a:t>解析</a:t>
              </a:r>
              <a:endParaRPr lang="zh-CN" altLang="en-US" sz="880">
                <a:solidFill>
                  <a:srgbClr val="C8161E"/>
                </a:solidFill>
              </a:endParaRPr>
            </a:p>
          </p:txBody>
        </p:sp>
        <p:sp>
          <p:nvSpPr>
            <p:cNvPr id="46" name="云形 45"/>
            <p:cNvSpPr/>
            <p:nvPr/>
          </p:nvSpPr>
          <p:spPr>
            <a:xfrm>
              <a:off x="1404461" y="2664289"/>
              <a:ext cx="433626" cy="263962"/>
            </a:xfrm>
            <a:prstGeom prst="cloud">
              <a:avLst/>
            </a:prstGeom>
            <a:solidFill>
              <a:schemeClr val="bg1"/>
            </a:solidFill>
            <a:ln>
              <a:solidFill>
                <a:srgbClr val="DBDBDB"/>
              </a:soli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80">
                  <a:solidFill>
                    <a:srgbClr val="C8161E"/>
                  </a:solidFill>
                  <a:sym typeface="+mn-ea"/>
                </a:rPr>
                <a:t>检测</a:t>
              </a:r>
              <a:endParaRPr lang="zh-CN" altLang="en-US" sz="880">
                <a:solidFill>
                  <a:srgbClr val="C8161E"/>
                </a:solidFill>
                <a:sym typeface="+mn-ea"/>
              </a:endParaRPr>
            </a:p>
          </p:txBody>
        </p:sp>
        <p:sp>
          <p:nvSpPr>
            <p:cNvPr id="47" name="云形 46"/>
            <p:cNvSpPr/>
            <p:nvPr/>
          </p:nvSpPr>
          <p:spPr>
            <a:xfrm>
              <a:off x="1383030" y="3209000"/>
              <a:ext cx="433626" cy="263962"/>
            </a:xfrm>
            <a:prstGeom prst="cloud">
              <a:avLst/>
            </a:prstGeom>
            <a:solidFill>
              <a:schemeClr val="bg1"/>
            </a:solidFill>
            <a:ln>
              <a:solidFill>
                <a:srgbClr val="DBDBDB"/>
              </a:solidFill>
            </a:ln>
            <a:effectLst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r>
                <a:rPr lang="zh-CN" altLang="en-US" sz="880">
                  <a:solidFill>
                    <a:srgbClr val="C8161E"/>
                  </a:solidFill>
                  <a:sym typeface="+mn-ea"/>
                </a:rPr>
                <a:t>响应</a:t>
              </a:r>
              <a:endParaRPr lang="zh-CN" altLang="en-US" sz="880">
                <a:solidFill>
                  <a:srgbClr val="C8161E"/>
                </a:solidFill>
                <a:sym typeface="+mn-ea"/>
              </a:endParaRPr>
            </a:p>
          </p:txBody>
        </p:sp>
        <p:sp>
          <p:nvSpPr>
            <p:cNvPr id="53" name="燕尾形箭头 52"/>
            <p:cNvSpPr/>
            <p:nvPr/>
          </p:nvSpPr>
          <p:spPr>
            <a:xfrm rot="4680000">
              <a:off x="1480900" y="2472480"/>
              <a:ext cx="237530" cy="115014"/>
            </a:xfrm>
            <a:prstGeom prst="notchedRightArrow">
              <a:avLst/>
            </a:prstGeom>
            <a:solidFill>
              <a:srgbClr val="F2F2F2"/>
            </a:solidFill>
            <a:ln>
              <a:solidFill>
                <a:srgbClr val="F6F8FA"/>
              </a:solidFill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15"/>
            </a:p>
          </p:txBody>
        </p:sp>
        <p:sp>
          <p:nvSpPr>
            <p:cNvPr id="54" name="燕尾形箭头 53"/>
            <p:cNvSpPr/>
            <p:nvPr/>
          </p:nvSpPr>
          <p:spPr>
            <a:xfrm rot="6240000">
              <a:off x="1484471" y="3022548"/>
              <a:ext cx="237530" cy="115014"/>
            </a:xfrm>
            <a:prstGeom prst="notchedRightArrow">
              <a:avLst/>
            </a:prstGeom>
            <a:solidFill>
              <a:srgbClr val="F2F2F2"/>
            </a:solidFill>
            <a:ln>
              <a:solidFill>
                <a:srgbClr val="F6F8FA"/>
              </a:solidFill>
            </a:ln>
            <a:effectLst>
              <a:outerShdw blurRad="50800" dist="38100" dir="5400000" algn="t" rotWithShape="0">
                <a:prstClr val="black">
                  <a:alpha val="25000"/>
                </a:prst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vertOverflow="overflow" horzOverflow="overflow" vert="horz" wrap="square" numCol="1" spcCol="0" rtlCol="0" fromWordArt="0" anchor="ctr" anchorCtr="0" forceAA="0" compatLnSpc="1">
              <a:noAutofit/>
            </a:bodyPr>
            <a:lstStyle/>
            <a:p>
              <a:pPr lvl="0" algn="ctr">
                <a:buClrTx/>
                <a:buSzTx/>
                <a:buFontTx/>
              </a:pPr>
              <a:endParaRPr lang="zh-CN" altLang="en-US" sz="1015">
                <a:sym typeface="+mn-ea"/>
              </a:endParaRPr>
            </a:p>
          </p:txBody>
        </p:sp>
      </p:grpSp>
      <p:sp>
        <p:nvSpPr>
          <p:cNvPr id="25" name="文本框 24"/>
          <p:cNvSpPr txBox="1"/>
          <p:nvPr/>
        </p:nvSpPr>
        <p:spPr>
          <a:xfrm>
            <a:off x="64616" y="4893696"/>
            <a:ext cx="3312102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675" dirty="0">
                <a:solidFill>
                  <a:srgbClr val="C9151E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🌐 </a:t>
            </a:r>
            <a:r>
              <a:rPr lang="zh-CN" altLang="en-US" sz="675" b="1" dirty="0">
                <a:solidFill>
                  <a:srgbClr val="C9151E"/>
                </a:solidFill>
                <a:sym typeface="+mn-ea"/>
              </a:rPr>
              <a:t>标准 DNS 解析</a:t>
            </a:r>
            <a:r>
              <a:rPr lang="en-US" altLang="zh-CN" sz="675" dirty="0">
                <a:sym typeface="+mn-ea"/>
              </a:rPr>
              <a:t> 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(by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朱明睿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)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  <a:p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使用 </a:t>
            </a:r>
            <a:r>
              <a:rPr lang="en-US" altLang="zh-CN" sz="800" u="sng" dirty="0" err="1">
                <a:solidFill>
                  <a:srgbClr val="616161"/>
                </a:solidFill>
                <a:latin typeface="Segoe WPC"/>
                <a:sym typeface="+mn-ea"/>
              </a:rPr>
              <a:t>dnslib</a:t>
            </a:r>
            <a:r>
              <a:rPr lang="en-US" altLang="zh-CN" sz="800" u="sng" dirty="0">
                <a:solidFill>
                  <a:srgbClr val="616161"/>
                </a:solidFill>
                <a:latin typeface="Segoe WPC"/>
                <a:sym typeface="+mn-ea"/>
              </a:rPr>
              <a:t>, </a:t>
            </a:r>
            <a:r>
              <a:rPr lang="en-US" altLang="zh-CN" sz="800" u="sng" dirty="0" err="1">
                <a:solidFill>
                  <a:srgbClr val="616161"/>
                </a:solidFill>
                <a:latin typeface="Segoe WPC"/>
                <a:sym typeface="+mn-ea"/>
              </a:rPr>
              <a:t>dnspython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库搭建基础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DNS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服务器，支持对各类请求的解析和递归查询。通过测试脚本和运行日志进行调试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1343934" y="8451840"/>
            <a:ext cx="88713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chemeClr val="accent3"/>
                </a:solidFill>
                <a:latin typeface="Segoe WPC"/>
              </a:rPr>
              <a:t>项目流程设计</a:t>
            </a:r>
            <a:endParaRPr lang="zh-CN" altLang="en-US" sz="800" dirty="0">
              <a:solidFill>
                <a:schemeClr val="accent3"/>
              </a:solidFill>
            </a:endParaRPr>
          </a:p>
        </p:txBody>
      </p:sp>
      <p:pic>
        <p:nvPicPr>
          <p:cNvPr id="39" name="图片 38"/>
          <p:cNvPicPr>
            <a:picLocks noChangeAspect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556" b="16940"/>
          <a:stretch>
            <a:fillRect/>
          </a:stretch>
        </p:blipFill>
        <p:spPr>
          <a:xfrm>
            <a:off x="153670" y="9404350"/>
            <a:ext cx="3152140" cy="20701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25000"/>
              </a:prstClr>
            </a:outerShdw>
          </a:effectLst>
        </p:spPr>
      </p:pic>
      <p:sp>
        <p:nvSpPr>
          <p:cNvPr id="68" name="文本框 67"/>
          <p:cNvSpPr txBox="1"/>
          <p:nvPr/>
        </p:nvSpPr>
        <p:spPr>
          <a:xfrm>
            <a:off x="29029" y="11514900"/>
            <a:ext cx="3347427" cy="584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从不同维度锁定了随机域名的特征：信息熵捕捉域名的高乱码度；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N-gram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频次捕捉局部字符组合的异样分布；马尔可夫困惑度则通过字符转移概率识别拼写中极度拗口、违背自然语言发音规律的乱码序列。三者互补，能够精准将黑客生成的随机域名与正常网站区分开。</a:t>
            </a:r>
            <a:endParaRPr lang="zh-CN" altLang="en-US" sz="675" dirty="0">
              <a:latin typeface="+mn-ea"/>
              <a:cs typeface="+mn-ea"/>
              <a:sym typeface="+mn-ea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3465830" y="1398905"/>
            <a:ext cx="3290570" cy="2872105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3482975" y="10642600"/>
            <a:ext cx="3272790" cy="1457325"/>
          </a:xfrm>
          <a:prstGeom prst="rect">
            <a:avLst/>
          </a:prstGeom>
          <a:solidFill>
            <a:schemeClr val="bg1"/>
          </a:solidFill>
          <a:ln>
            <a:solidFill>
              <a:srgbClr val="F2F2F2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  <a:softEdge rad="12700"/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015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sym typeface="+mn-ea"/>
            </a:endParaRPr>
          </a:p>
        </p:txBody>
      </p:sp>
      <p:sp>
        <p:nvSpPr>
          <p:cNvPr id="78" name="文本框 77"/>
          <p:cNvSpPr txBox="1"/>
          <p:nvPr/>
        </p:nvSpPr>
        <p:spPr>
          <a:xfrm>
            <a:off x="3486608" y="10940773"/>
            <a:ext cx="3309857" cy="9233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900" b="0" i="0" dirty="0">
                <a:solidFill>
                  <a:srgbClr val="616161"/>
                </a:solidFill>
                <a:effectLst/>
                <a:latin typeface="Segoe WPC"/>
              </a:rPr>
              <a:t>安全成效：成功将恶意域名拦截模块嵌入标准 </a:t>
            </a:r>
            <a:r>
              <a:rPr lang="en-US" altLang="zh-CN" sz="900" b="0" i="0" dirty="0">
                <a:solidFill>
                  <a:srgbClr val="616161"/>
                </a:solidFill>
                <a:effectLst/>
                <a:latin typeface="Segoe WPC"/>
              </a:rPr>
              <a:t>DNS </a:t>
            </a:r>
            <a:r>
              <a:rPr lang="zh-CN" altLang="en-US" sz="900" dirty="0">
                <a:solidFill>
                  <a:srgbClr val="616161"/>
                </a:solidFill>
                <a:latin typeface="Segoe WPC"/>
              </a:rPr>
              <a:t>服务器流程</a:t>
            </a:r>
            <a:r>
              <a:rPr lang="zh-CN" altLang="en-US" sz="900" b="0" i="0" dirty="0">
                <a:solidFill>
                  <a:srgbClr val="616161"/>
                </a:solidFill>
                <a:effectLst/>
                <a:latin typeface="Segoe WPC"/>
              </a:rPr>
              <a:t>，实现了对 </a:t>
            </a:r>
            <a:r>
              <a:rPr lang="en-US" altLang="zh-CN" sz="900" b="0" i="0" dirty="0">
                <a:solidFill>
                  <a:srgbClr val="616161"/>
                </a:solidFill>
                <a:effectLst/>
                <a:latin typeface="Segoe WPC"/>
              </a:rPr>
              <a:t>DGA </a:t>
            </a:r>
            <a:r>
              <a:rPr lang="zh-CN" altLang="en-US" sz="900" b="0" i="0" dirty="0">
                <a:solidFill>
                  <a:srgbClr val="616161"/>
                </a:solidFill>
                <a:effectLst/>
                <a:latin typeface="Segoe WPC"/>
              </a:rPr>
              <a:t>恶意域名的源头阻断。</a:t>
            </a:r>
            <a:endParaRPr lang="zh-CN" altLang="en-US" sz="900" b="0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/>
            <a:r>
              <a:rPr lang="zh-CN" altLang="en-US" sz="900" b="0" i="0" dirty="0">
                <a:solidFill>
                  <a:srgbClr val="616161"/>
                </a:solidFill>
                <a:effectLst/>
                <a:latin typeface="Segoe WPC"/>
              </a:rPr>
              <a:t>性能突破：基于预加载与双层缓存机制实现主动“预热”，降低常用关联域名查询延迟。</a:t>
            </a:r>
            <a:endParaRPr lang="zh-CN" altLang="en-US" sz="900" b="0" i="0" dirty="0">
              <a:solidFill>
                <a:srgbClr val="616161"/>
              </a:solidFill>
              <a:effectLst/>
              <a:latin typeface="Segoe WPC"/>
            </a:endParaRPr>
          </a:p>
          <a:p>
            <a:pPr algn="l"/>
            <a:r>
              <a:rPr lang="zh-CN" altLang="en-US" sz="900" b="0" i="0" dirty="0">
                <a:solidFill>
                  <a:srgbClr val="616161"/>
                </a:solidFill>
                <a:effectLst/>
                <a:latin typeface="Segoe WPC"/>
              </a:rPr>
              <a:t>工程完备：配备桌面控制客户端与诊断工具，支持日志实时可视化重定向与参数微调，增强了系统的可演示性与应用价值。</a:t>
            </a:r>
            <a:endParaRPr lang="zh-CN" altLang="en-US" sz="900" dirty="0">
              <a:latin typeface="+mn-ea"/>
              <a:cs typeface="+mn-ea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561538" y="1437208"/>
            <a:ext cx="3070680" cy="47310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675" dirty="0">
                <a:solidFill>
                  <a:srgbClr val="C9151E"/>
                </a:solidFill>
                <a:sym typeface="+mn-ea"/>
              </a:rPr>
              <a:t>🧠 </a:t>
            </a:r>
            <a:r>
              <a:rPr lang="en-US" altLang="zh-CN" sz="675" i="1" u="sng" dirty="0">
                <a:solidFill>
                  <a:srgbClr val="C9151E"/>
                </a:solidFill>
                <a:sym typeface="+mn-ea"/>
              </a:rPr>
              <a:t>SQLite</a:t>
            </a:r>
            <a:r>
              <a:rPr lang="zh-CN" altLang="en-US" sz="675" b="1" dirty="0">
                <a:solidFill>
                  <a:srgbClr val="C9151E"/>
                </a:solidFill>
                <a:sym typeface="+mn-ea"/>
              </a:rPr>
              <a:t>缓存与启发式预加载</a:t>
            </a:r>
            <a:r>
              <a:rPr lang="en-US" altLang="zh-CN" sz="675" dirty="0">
                <a:sym typeface="+mn-ea"/>
              </a:rPr>
              <a:t> 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(by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蒙俊豪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)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  <a:p>
            <a:pPr algn="l"/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·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持久化缓存，支持 TTL 过期与后台自动清理</a:t>
            </a:r>
            <a:endParaRPr lang="zh-CN" altLang="en-US" sz="800" dirty="0">
              <a:solidFill>
                <a:srgbClr val="616161"/>
              </a:solidFill>
              <a:latin typeface="Segoe WPC"/>
            </a:endParaRPr>
          </a:p>
          <a:p>
            <a:pPr algn="l"/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·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启发式预加载：学习查询模式，提前预热缓存</a:t>
            </a:r>
            <a:endParaRPr lang="en-US" altLang="zh-CN" sz="800" dirty="0">
              <a:solidFill>
                <a:srgbClr val="616161"/>
              </a:solidFill>
              <a:latin typeface="Segoe WPC"/>
              <a:sym typeface="+mn-ea"/>
            </a:endParaRPr>
          </a:p>
          <a:p>
            <a:pPr algn="l"/>
            <a:endParaRPr lang="zh-CN" altLang="en-US" sz="675" dirty="0">
              <a:latin typeface="+mn-ea"/>
              <a:cs typeface="+mn-ea"/>
              <a:sym typeface="+mn-ea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3586137" y="8856511"/>
            <a:ext cx="3272303" cy="3199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15" b="1" dirty="0">
                <a:solidFill>
                  <a:srgbClr val="C9151E"/>
                </a:solidFill>
                <a:sym typeface="+mn-ea"/>
              </a:rPr>
              <a:t>结果展示：</a:t>
            </a:r>
            <a:endParaRPr lang="zh-CN" altLang="en-US" sz="1015" b="1" dirty="0">
              <a:solidFill>
                <a:srgbClr val="C9151E"/>
              </a:solidFill>
              <a:sym typeface="+mn-ea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1855" y="8925269"/>
            <a:ext cx="3309857" cy="565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altLang="en-US" sz="675" dirty="0">
                <a:solidFill>
                  <a:srgbClr val="C9151E"/>
                </a:solidFill>
                <a:sym typeface="+mn-ea"/>
              </a:rPr>
              <a:t>🛡</a:t>
            </a:r>
            <a:r>
              <a:rPr lang="en-US" altLang="zh-CN" sz="675" dirty="0">
                <a:solidFill>
                  <a:srgbClr val="C9151E"/>
                </a:solidFill>
                <a:sym typeface="+mn-ea"/>
              </a:rPr>
              <a:t> </a:t>
            </a:r>
            <a:r>
              <a:rPr lang="zh-CN" altLang="en-US" sz="675" b="1" dirty="0">
                <a:solidFill>
                  <a:srgbClr val="C9151E"/>
                </a:solidFill>
                <a:sym typeface="+mn-ea"/>
              </a:rPr>
              <a:t>AI 驱动的 DGA 恶意域名实时检测与拦截</a:t>
            </a:r>
            <a:r>
              <a:rPr lang="en-US" altLang="zh-CN" sz="675" b="1" dirty="0">
                <a:sym typeface="+mn-ea"/>
              </a:rPr>
              <a:t> 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(by 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董子舒</a:t>
            </a:r>
            <a:r>
              <a:rPr lang="en-US" altLang="zh-CN" sz="800" dirty="0">
                <a:solidFill>
                  <a:srgbClr val="616161"/>
                </a:solidFill>
                <a:latin typeface="Segoe WPC"/>
                <a:sym typeface="+mn-ea"/>
              </a:rPr>
              <a:t>)</a:t>
            </a:r>
            <a:endParaRPr lang="en-US" altLang="zh-CN" sz="800" dirty="0">
              <a:solidFill>
                <a:srgbClr val="616161"/>
              </a:solidFill>
              <a:latin typeface="Segoe WPC"/>
              <a:sym typeface="+mn-ea"/>
            </a:endParaRPr>
          </a:p>
          <a:p>
            <a:pPr algn="l"/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使用</a:t>
            </a:r>
            <a:r>
              <a:rPr lang="en-US" altLang="zh-CN" sz="800" u="sng" dirty="0">
                <a:solidFill>
                  <a:srgbClr val="616161"/>
                </a:solidFill>
                <a:latin typeface="Segoe WPC"/>
                <a:sym typeface="+mn-ea"/>
              </a:rPr>
              <a:t>Scikit-learn</a:t>
            </a:r>
            <a:r>
              <a:rPr lang="zh-CN" altLang="en-US" sz="800" dirty="0">
                <a:solidFill>
                  <a:srgbClr val="616161"/>
                </a:solidFill>
                <a:latin typeface="Segoe WPC"/>
                <a:sym typeface="+mn-ea"/>
              </a:rPr>
              <a:t>库（随机森林算法）和轻量化模型，提取域名中的多维度特征，实现实时检测与拦截</a:t>
            </a:r>
            <a:endParaRPr lang="zh-CN" altLang="en-US" sz="800" dirty="0">
              <a:solidFill>
                <a:srgbClr val="616161"/>
              </a:solidFill>
              <a:latin typeface="Segoe WPC"/>
              <a:sym typeface="+mn-ea"/>
            </a:endParaRPr>
          </a:p>
          <a:p>
            <a:pPr algn="l"/>
            <a:endParaRPr lang="zh-CN" altLang="en-US" sz="675" dirty="0">
              <a:latin typeface="+mn-ea"/>
              <a:cs typeface="+mn-ea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3505385" y="10727044"/>
            <a:ext cx="3272304" cy="2482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15" b="1">
                <a:solidFill>
                  <a:srgbClr val="C9151E"/>
                </a:solidFill>
                <a:sym typeface="+mn-ea"/>
              </a:rPr>
              <a:t>总结：</a:t>
            </a:r>
            <a:endParaRPr lang="zh-CN" altLang="en-US" sz="1015" b="1" dirty="0">
              <a:solidFill>
                <a:srgbClr val="C9151E"/>
              </a:solidFill>
              <a:sym typeface="+mn-ea"/>
            </a:endParaRPr>
          </a:p>
        </p:txBody>
      </p:sp>
      <p:sp>
        <p:nvSpPr>
          <p:cNvPr id="38" name="波形 37"/>
          <p:cNvSpPr/>
          <p:nvPr/>
        </p:nvSpPr>
        <p:spPr>
          <a:xfrm>
            <a:off x="85725" y="1363980"/>
            <a:ext cx="679450" cy="334645"/>
          </a:xfrm>
          <a:prstGeom prst="wave">
            <a:avLst/>
          </a:prstGeom>
          <a:solidFill>
            <a:srgbClr val="C9151E">
              <a:alpha val="7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直角三角形 28"/>
          <p:cNvSpPr/>
          <p:nvPr/>
        </p:nvSpPr>
        <p:spPr>
          <a:xfrm rot="10800000">
            <a:off x="3073400" y="1389380"/>
            <a:ext cx="320040" cy="339090"/>
          </a:xfrm>
          <a:prstGeom prst="rtTriangle">
            <a:avLst/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直角三角形 29"/>
          <p:cNvSpPr/>
          <p:nvPr/>
        </p:nvSpPr>
        <p:spPr>
          <a:xfrm rot="10800000">
            <a:off x="3054350" y="4611370"/>
            <a:ext cx="320040" cy="339090"/>
          </a:xfrm>
          <a:prstGeom prst="rtTriangle">
            <a:avLst/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直角三角形 31"/>
          <p:cNvSpPr/>
          <p:nvPr/>
        </p:nvSpPr>
        <p:spPr>
          <a:xfrm rot="10800000">
            <a:off x="3049905" y="8704580"/>
            <a:ext cx="320040" cy="339090"/>
          </a:xfrm>
          <a:prstGeom prst="rtTriangle">
            <a:avLst/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燕尾形箭头 33"/>
          <p:cNvSpPr/>
          <p:nvPr/>
        </p:nvSpPr>
        <p:spPr>
          <a:xfrm rot="5400000">
            <a:off x="5958205" y="1472565"/>
            <a:ext cx="810895" cy="415290"/>
          </a:xfrm>
          <a:prstGeom prst="notchedRightArrow">
            <a:avLst>
              <a:gd name="adj1" fmla="val 51681"/>
              <a:gd name="adj2" fmla="val 50000"/>
            </a:avLst>
          </a:prstGeom>
          <a:solidFill>
            <a:srgbClr val="C9151E"/>
          </a:solidFill>
          <a:ln>
            <a:solidFill>
              <a:srgbClr val="C8161E"/>
            </a:solidFill>
          </a:ln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44" name="图片 43"/>
          <p:cNvPicPr>
            <a:picLocks noChangeAspect="1"/>
          </p:cNvPicPr>
          <p:nvPr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" t="13352" r="940" b="2181"/>
          <a:stretch>
            <a:fillRect/>
          </a:stretch>
        </p:blipFill>
        <p:spPr>
          <a:xfrm>
            <a:off x="3605530" y="1866265"/>
            <a:ext cx="3009265" cy="2286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文本框 9"/>
          <p:cNvSpPr txBox="1"/>
          <p:nvPr/>
        </p:nvSpPr>
        <p:spPr>
          <a:xfrm>
            <a:off x="47444" y="1398670"/>
            <a:ext cx="2065258" cy="248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15" b="1" dirty="0">
                <a:solidFill>
                  <a:schemeClr val="bg1"/>
                </a:solidFill>
              </a:rPr>
              <a:t>项目背景：</a:t>
            </a:r>
            <a:endParaRPr lang="zh-CN" altLang="en-US" sz="1015" b="1" dirty="0">
              <a:solidFill>
                <a:schemeClr val="bg1"/>
              </a:solidFill>
            </a:endParaRPr>
          </a:p>
        </p:txBody>
      </p:sp>
      <p:sp>
        <p:nvSpPr>
          <p:cNvPr id="41" name="波形 40"/>
          <p:cNvSpPr/>
          <p:nvPr/>
        </p:nvSpPr>
        <p:spPr>
          <a:xfrm>
            <a:off x="85725" y="4625975"/>
            <a:ext cx="679450" cy="334645"/>
          </a:xfrm>
          <a:prstGeom prst="wave">
            <a:avLst/>
          </a:prstGeom>
          <a:solidFill>
            <a:srgbClr val="C9151E">
              <a:alpha val="7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62128" y="4685948"/>
            <a:ext cx="3312102" cy="2482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15" b="1" dirty="0">
                <a:solidFill>
                  <a:schemeClr val="bg1"/>
                </a:solidFill>
                <a:sym typeface="+mn-ea"/>
              </a:rPr>
              <a:t>系统设计：</a:t>
            </a:r>
            <a:endParaRPr lang="zh-CN" altLang="en-US" sz="1015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2" name="波形 41"/>
          <p:cNvSpPr/>
          <p:nvPr/>
        </p:nvSpPr>
        <p:spPr>
          <a:xfrm>
            <a:off x="85725" y="8667115"/>
            <a:ext cx="679450" cy="334645"/>
          </a:xfrm>
          <a:prstGeom prst="wave">
            <a:avLst/>
          </a:prstGeom>
          <a:solidFill>
            <a:srgbClr val="C9151E">
              <a:alpha val="7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62764" y="8704789"/>
            <a:ext cx="3311474" cy="24820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15" b="1" dirty="0">
                <a:solidFill>
                  <a:schemeClr val="bg1"/>
                </a:solidFill>
                <a:sym typeface="+mn-ea"/>
              </a:rPr>
              <a:t>核心亮点：</a:t>
            </a:r>
            <a:endParaRPr lang="zh-CN" altLang="en-US" sz="1015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8" name="波形 47"/>
          <p:cNvSpPr/>
          <p:nvPr/>
        </p:nvSpPr>
        <p:spPr>
          <a:xfrm>
            <a:off x="3493770" y="4271010"/>
            <a:ext cx="679450" cy="334645"/>
          </a:xfrm>
          <a:prstGeom prst="wave">
            <a:avLst/>
          </a:prstGeom>
          <a:solidFill>
            <a:srgbClr val="C9151E">
              <a:alpha val="70000"/>
            </a:srgbClr>
          </a:solidFill>
          <a:ln>
            <a:noFill/>
          </a:ln>
          <a:effectLst>
            <a:outerShdw blurRad="50800" dist="38100" dir="5400000" algn="t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文本框 72"/>
          <p:cNvSpPr txBox="1"/>
          <p:nvPr/>
        </p:nvSpPr>
        <p:spPr>
          <a:xfrm>
            <a:off x="3465585" y="4323894"/>
            <a:ext cx="3312102" cy="2482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buClrTx/>
              <a:buSzTx/>
              <a:buFontTx/>
            </a:pPr>
            <a:r>
              <a:rPr lang="zh-CN" altLang="en-US" sz="1015" b="1" dirty="0">
                <a:solidFill>
                  <a:schemeClr val="bg1"/>
                </a:solidFill>
                <a:sym typeface="+mn-ea"/>
              </a:rPr>
              <a:t>扩展工具：</a:t>
            </a:r>
            <a:endParaRPr lang="zh-CN" altLang="en-US" sz="1015" b="1" dirty="0">
              <a:solidFill>
                <a:schemeClr val="bg1"/>
              </a:solidFill>
              <a:sym typeface="+mn-ea"/>
            </a:endParaRPr>
          </a:p>
        </p:txBody>
      </p:sp>
      <p:sp>
        <p:nvSpPr>
          <p:cNvPr id="49" name="矩形 48"/>
          <p:cNvSpPr/>
          <p:nvPr/>
        </p:nvSpPr>
        <p:spPr>
          <a:xfrm>
            <a:off x="6659880" y="4368800"/>
            <a:ext cx="76200" cy="4297680"/>
          </a:xfrm>
          <a:prstGeom prst="rect">
            <a:avLst/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半闭框 51"/>
          <p:cNvSpPr/>
          <p:nvPr/>
        </p:nvSpPr>
        <p:spPr>
          <a:xfrm>
            <a:off x="3505200" y="8704580"/>
            <a:ext cx="490855" cy="471805"/>
          </a:xfrm>
          <a:prstGeom prst="halfFrame">
            <a:avLst>
              <a:gd name="adj1" fmla="val 18169"/>
              <a:gd name="adj2" fmla="val 17227"/>
            </a:avLst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9435" y="1573656"/>
            <a:ext cx="3318948" cy="115505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pPr algn="l"/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当今互联网的双重困境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：</a:t>
            </a:r>
            <a:endParaRPr lang="zh-CN" altLang="en-US" sz="780" dirty="0">
              <a:solidFill>
                <a:srgbClr val="616161"/>
              </a:solidFill>
              <a:latin typeface="Segoe WPC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安全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：传统安全防护主要依赖静态的“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域名黑名单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”，面对黑客利用算法自动生成的全新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恶意域名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无能为力，无法在用户访问的最源头进行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主动识别与实时拦截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。</a:t>
            </a:r>
            <a:endParaRPr lang="zh-CN" altLang="en-US" sz="780" dirty="0">
              <a:solidFill>
                <a:srgbClr val="616161"/>
              </a:solidFill>
              <a:latin typeface="Segoe WPC"/>
            </a:endParaRPr>
          </a:p>
          <a:p>
            <a:pPr algn="l">
              <a:buFont typeface="+mj-lt"/>
              <a:buAutoNum type="arabicPeriod"/>
            </a:pP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性能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：现代网页通常由多个域名的服务共同组成，传统 </a:t>
            </a:r>
            <a:r>
              <a:rPr lang="en-US" altLang="zh-CN" sz="780" dirty="0">
                <a:solidFill>
                  <a:srgbClr val="616161"/>
                </a:solidFill>
                <a:latin typeface="Segoe WPC"/>
              </a:rPr>
              <a:t>DNS 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每次都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机械地从头查询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，在遭遇恶意扫描或大量“不存在域名”查询时，会反复向外网发起请求，容易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浪费带宽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并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拖慢整体网络速度</a:t>
            </a:r>
            <a:r>
              <a:rPr lang="zh-CN" altLang="en-US" sz="780" dirty="0">
                <a:solidFill>
                  <a:srgbClr val="616161"/>
                </a:solidFill>
                <a:latin typeface="Segoe WPC"/>
              </a:rPr>
              <a:t>。</a:t>
            </a:r>
            <a:endParaRPr lang="en-US" altLang="zh-CN" sz="780" dirty="0">
              <a:solidFill>
                <a:srgbClr val="616161"/>
              </a:solidFill>
              <a:latin typeface="Segoe WPC"/>
            </a:endParaRPr>
          </a:p>
          <a:p>
            <a:pPr algn="l"/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为此，本项目设计并实现了一款基于机器学习的智能 </a:t>
            </a:r>
            <a:r>
              <a:rPr lang="en-US" altLang="zh-CN" sz="780" b="1" dirty="0">
                <a:solidFill>
                  <a:srgbClr val="616161"/>
                </a:solidFill>
                <a:latin typeface="Segoe WPC"/>
              </a:rPr>
              <a:t>DGA 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检测与高性能预测型 </a:t>
            </a:r>
            <a:r>
              <a:rPr lang="en-US" altLang="zh-CN" sz="780" b="1" dirty="0">
                <a:solidFill>
                  <a:srgbClr val="616161"/>
                </a:solidFill>
                <a:latin typeface="Segoe WPC"/>
              </a:rPr>
              <a:t>DNS 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</a:rPr>
              <a:t>服务器。</a:t>
            </a:r>
            <a:r>
              <a:rPr lang="en-US" altLang="zh-CN" sz="780" b="1" dirty="0" err="1">
                <a:solidFill>
                  <a:srgbClr val="616161"/>
                </a:solidFill>
                <a:latin typeface="Segoe WPC"/>
                <a:sym typeface="+mn-ea"/>
              </a:rPr>
              <a:t>Github</a:t>
            </a:r>
            <a:r>
              <a:rPr lang="zh-CN" altLang="en-US" sz="780" b="1" dirty="0">
                <a:solidFill>
                  <a:srgbClr val="616161"/>
                </a:solidFill>
                <a:latin typeface="Segoe WPC"/>
                <a:sym typeface="+mn-ea"/>
              </a:rPr>
              <a:t>仓库：</a:t>
            </a:r>
            <a:r>
              <a:rPr lang="en-US" altLang="zh-CN" sz="780" b="1" dirty="0">
                <a:solidFill>
                  <a:srgbClr val="616161"/>
                </a:solidFill>
                <a:latin typeface="Segoe WPC"/>
                <a:sym typeface="+mn-ea"/>
                <a:hlinkClick r:id="rId12"/>
              </a:rPr>
              <a:t>https://github.com/Vermilion-Zhu/DNSServer</a:t>
            </a:r>
            <a:endParaRPr lang="en-US" altLang="zh-CN" sz="780" b="1" dirty="0">
              <a:solidFill>
                <a:srgbClr val="616161"/>
              </a:solidFill>
              <a:latin typeface="Segoe WPC"/>
              <a:sym typeface="+mn-ea"/>
            </a:endParaRPr>
          </a:p>
          <a:p>
            <a:pPr algn="l"/>
            <a:endParaRPr lang="zh-CN" altLang="en-US" sz="780" b="1" dirty="0">
              <a:solidFill>
                <a:srgbClr val="616161"/>
              </a:solidFill>
              <a:latin typeface="Segoe WPC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0001" b="26008"/>
          <a:stretch>
            <a:fillRect/>
          </a:stretch>
        </p:blipFill>
        <p:spPr>
          <a:xfrm>
            <a:off x="138219" y="2859482"/>
            <a:ext cx="3121152" cy="137303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30000"/>
              </a:prstClr>
            </a:outerShdw>
          </a:effectLst>
        </p:spPr>
      </p:pic>
      <p:sp>
        <p:nvSpPr>
          <p:cNvPr id="71" name="圆角矩形 70"/>
          <p:cNvSpPr/>
          <p:nvPr/>
        </p:nvSpPr>
        <p:spPr>
          <a:xfrm>
            <a:off x="3585845" y="1442720"/>
            <a:ext cx="2296160" cy="423545"/>
          </a:xfrm>
          <a:prstGeom prst="roundRect">
            <a:avLst/>
          </a:prstGeom>
          <a:solidFill>
            <a:srgbClr val="B3B3B3">
              <a:alpha val="10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圆角矩形 79"/>
          <p:cNvSpPr/>
          <p:nvPr/>
        </p:nvSpPr>
        <p:spPr>
          <a:xfrm>
            <a:off x="3528060" y="10940415"/>
            <a:ext cx="3166745" cy="923290"/>
          </a:xfrm>
          <a:prstGeom prst="roundRect">
            <a:avLst/>
          </a:prstGeom>
          <a:solidFill>
            <a:srgbClr val="B3B3B3">
              <a:alpha val="10000"/>
            </a:srgbClr>
          </a:solidFill>
          <a:ln>
            <a:solidFill>
              <a:schemeClr val="bg2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7" name="斜纹 36"/>
          <p:cNvSpPr/>
          <p:nvPr/>
        </p:nvSpPr>
        <p:spPr>
          <a:xfrm rot="10800000">
            <a:off x="6358890" y="11657330"/>
            <a:ext cx="407670" cy="453390"/>
          </a:xfrm>
          <a:prstGeom prst="diagStripe">
            <a:avLst/>
          </a:prstGeom>
          <a:solidFill>
            <a:srgbClr val="C9151E"/>
          </a:solidFill>
          <a:ln>
            <a:solidFill>
              <a:srgbClr val="C9151E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3528060" y="9758680"/>
            <a:ext cx="310451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dirty="0">
                <a:solidFill>
                  <a:schemeClr val="tx1"/>
                </a:solidFill>
                <a:latin typeface="Segoe WPC"/>
              </a:rPr>
              <a:t>-</a:t>
            </a:r>
            <a:r>
              <a:rPr lang="zh-CN" altLang="en-US" sz="800" dirty="0">
                <a:solidFill>
                  <a:schemeClr val="tx1"/>
                </a:solidFill>
                <a:latin typeface="Segoe WPC"/>
              </a:rPr>
              <a:t>安全性：抵御随机算法生成的恶意域名攻击，平均拦截概率</a:t>
            </a:r>
            <a:r>
              <a:rPr lang="en-US" altLang="zh-CN" sz="800" dirty="0">
                <a:solidFill>
                  <a:schemeClr val="tx1"/>
                </a:solidFill>
                <a:latin typeface="Segoe WPC"/>
              </a:rPr>
              <a:t>93.3</a:t>
            </a:r>
            <a:r>
              <a:rPr lang="zh-CN" altLang="en-US" sz="800" dirty="0">
                <a:solidFill>
                  <a:schemeClr val="tx1"/>
                </a:solidFill>
                <a:latin typeface="Segoe WPC"/>
              </a:rPr>
              <a:t>% (Threshold=0.7)</a:t>
            </a:r>
            <a:endParaRPr lang="zh-CN" altLang="en-US" sz="800" dirty="0">
              <a:solidFill>
                <a:schemeClr val="tx1"/>
              </a:solidFill>
              <a:latin typeface="Segoe WPC"/>
            </a:endParaRPr>
          </a:p>
          <a:p>
            <a:r>
              <a:rPr lang="en-US" altLang="zh-CN" sz="800" dirty="0">
                <a:solidFill>
                  <a:schemeClr val="tx1"/>
                </a:solidFill>
                <a:latin typeface="Segoe WPC"/>
              </a:rPr>
              <a:t>-</a:t>
            </a:r>
            <a:r>
              <a:rPr lang="zh-CN" altLang="en-US" sz="800" dirty="0">
                <a:solidFill>
                  <a:schemeClr val="tx1"/>
                </a:solidFill>
                <a:latin typeface="Segoe WPC"/>
              </a:rPr>
              <a:t>可靠性：查询1000条tranco</a:t>
            </a:r>
            <a:r>
              <a:rPr lang="en-US" altLang="zh-CN" sz="800" dirty="0">
                <a:solidFill>
                  <a:schemeClr val="tx1"/>
                </a:solidFill>
                <a:latin typeface="Segoe WPC"/>
              </a:rPr>
              <a:t>*</a:t>
            </a:r>
            <a:r>
              <a:rPr lang="zh-CN" altLang="en-US" sz="800" dirty="0">
                <a:solidFill>
                  <a:schemeClr val="tx1"/>
                </a:solidFill>
                <a:latin typeface="Segoe WPC"/>
              </a:rPr>
              <a:t>数据集中的正常域名，平均误报率1.1%</a:t>
            </a:r>
            <a:endParaRPr lang="zh-CN" altLang="en-US" sz="800" dirty="0">
              <a:solidFill>
                <a:schemeClr val="tx1"/>
              </a:solidFill>
              <a:latin typeface="Segoe WPC"/>
            </a:endParaRPr>
          </a:p>
        </p:txBody>
      </p:sp>
      <p:sp>
        <p:nvSpPr>
          <p:cNvPr id="84" name="文本框 83"/>
          <p:cNvSpPr txBox="1"/>
          <p:nvPr/>
        </p:nvSpPr>
        <p:spPr>
          <a:xfrm>
            <a:off x="3528060" y="10267950"/>
            <a:ext cx="308737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800" dirty="0">
                <a:latin typeface="Segoe WPC"/>
              </a:rPr>
              <a:t>*</a:t>
            </a:r>
            <a:r>
              <a:rPr lang="zh-CN" altLang="en-US" sz="800" dirty="0">
                <a:latin typeface="Segoe WPC"/>
              </a:rPr>
              <a:t>链接：</a:t>
            </a:r>
            <a:r>
              <a:rPr lang="zh-CN" altLang="en-US" sz="800" dirty="0">
                <a:latin typeface="Segoe WPC"/>
                <a:hlinkClick r:id="rId14" action="ppaction://hlinkfile"/>
              </a:rPr>
              <a:t>https://tranco-list.eu/list/WVV59</a:t>
            </a:r>
            <a:endParaRPr lang="zh-CN" altLang="en-US" sz="800" dirty="0">
              <a:latin typeface="Segoe WPC"/>
            </a:endParaRPr>
          </a:p>
        </p:txBody>
      </p:sp>
      <p:sp>
        <p:nvSpPr>
          <p:cNvPr id="85" name="平行四边形 84"/>
          <p:cNvSpPr/>
          <p:nvPr/>
        </p:nvSpPr>
        <p:spPr>
          <a:xfrm>
            <a:off x="6245225" y="10300970"/>
            <a:ext cx="371475" cy="180975"/>
          </a:xfrm>
          <a:prstGeom prst="parallelogram">
            <a:avLst/>
          </a:prstGeom>
          <a:solidFill>
            <a:srgbClr val="ED6369"/>
          </a:solidFill>
          <a:ln>
            <a:solidFill>
              <a:srgbClr val="ED6369"/>
            </a:solidFill>
          </a:ln>
          <a:effectLst>
            <a:outerShdw blurRad="50800" dist="38100" algn="l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287*68"/>
  <p:tag name="TABLE_ENDDRAG_RECT" val="656*394*287*68"/>
</p:tagLst>
</file>

<file path=ppt/theme/theme1.xml><?xml version="1.0" encoding="utf-8"?>
<a:theme xmlns:a="http://schemas.openxmlformats.org/drawingml/2006/main" name="WPS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1232</Words>
  <Application>WPS 演示</Application>
  <PresentationFormat>宽屏</PresentationFormat>
  <Paragraphs>73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宋体</vt:lpstr>
      <vt:lpstr>Wingdings</vt:lpstr>
      <vt:lpstr>黑体</vt:lpstr>
      <vt:lpstr>Segoe WPC</vt:lpstr>
      <vt:lpstr>Segoe Print</vt:lpstr>
      <vt:lpstr>Times New Roman</vt:lpstr>
      <vt:lpstr>Calibri</vt:lpstr>
      <vt:lpstr>等线</vt:lpstr>
      <vt:lpstr>微软雅黑</vt:lpstr>
      <vt:lpstr>Arial Unicode MS</vt:lpstr>
      <vt:lpstr>等线 Light</vt:lpstr>
      <vt:lpstr>Calibri Light</vt:lpstr>
      <vt:lpstr>WPS​​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cjq</dc:creator>
  <cp:lastModifiedBy>朱明睿</cp:lastModifiedBy>
  <cp:revision>18</cp:revision>
  <dcterms:created xsi:type="dcterms:W3CDTF">2023-07-11T07:43:00Z</dcterms:created>
  <dcterms:modified xsi:type="dcterms:W3CDTF">2026-06-07T08:43:03Z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2052-12.1.0.20305</vt:lpwstr>
  </property>
  <property fmtid="{D5CDD505-2E9C-101B-9397-08002B2CF9AE}" pid="3" name="ICV">
    <vt:lpwstr>13993626897F91E90608AD645D25FD23_42</vt:lpwstr>
  </property>
</Properties>
</file>